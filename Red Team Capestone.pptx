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  <p:sldId id="269" r:id="rId16"/>
  </p:sldIdLst>
  <p:sldSz cx="18288000" cy="10287000"/>
  <p:notesSz cx="6858000" cy="9144000"/>
  <p:embeddedFontLst>
    <p:embeddedFont>
      <p:font typeface="Anton" pitchFamily="2" charset="0"/>
      <p:regular r:id="rId17"/>
    </p:embeddedFont>
    <p:embeddedFont>
      <p:font typeface="Raleway" pitchFamily="2" charset="0"/>
      <p:regular r:id="rId18"/>
      <p:bold r:id="rId19"/>
      <p:italic r:id="rId20"/>
      <p:boldItalic r:id="rId21"/>
    </p:embeddedFont>
    <p:embeddedFont>
      <p:font typeface="Raleway Bold" pitchFamily="2" charset="0"/>
      <p:regular r:id="rId22"/>
      <p:bold r:id="rId23"/>
    </p:embeddedFont>
    <p:embeddedFont>
      <p:font typeface="Raleway Medium" pitchFamily="2" charset="0"/>
      <p:regular r:id="rId24"/>
      <p:italic r:id="rId25"/>
    </p:embeddedFont>
    <p:embeddedFont>
      <p:font typeface="TT Lakes Neue" panose="020B0604020202020204" charset="0"/>
      <p:regular r:id="rId26"/>
    </p:embeddedFont>
    <p:embeddedFont>
      <p:font typeface="TT Lakes Neue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69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1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.png"/><Relationship Id="rId7" Type="http://schemas.openxmlformats.org/officeDocument/2006/relationships/image" Target="../media/image1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.png"/><Relationship Id="rId7" Type="http://schemas.openxmlformats.org/officeDocument/2006/relationships/image" Target="../media/image19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99059" y="3385951"/>
            <a:ext cx="18387059" cy="3515099"/>
            <a:chOff x="0" y="0"/>
            <a:chExt cx="4842682" cy="9257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594631" y="1465245"/>
            <a:ext cx="2351901" cy="2351901"/>
          </a:xfrm>
          <a:custGeom>
            <a:avLst/>
            <a:gdLst/>
            <a:ahLst/>
            <a:cxnLst/>
            <a:rect l="l" t="t" r="r" b="b"/>
            <a:pathLst>
              <a:path w="2351901" h="2351901">
                <a:moveTo>
                  <a:pt x="0" y="0"/>
                </a:moveTo>
                <a:lnTo>
                  <a:pt x="2351900" y="0"/>
                </a:lnTo>
                <a:lnTo>
                  <a:pt x="2351900" y="2351901"/>
                </a:lnTo>
                <a:lnTo>
                  <a:pt x="0" y="2351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7" name="Group 7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3323024" y="4001918"/>
            <a:ext cx="11641951" cy="180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  <a:spcBef>
                <a:spcPct val="0"/>
              </a:spcBef>
            </a:pPr>
            <a:r>
              <a:rPr lang="en-US" sz="66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RED TEAM CAPSTONE ENGAGEMENT: TRIMENTO BANK SIMULATION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21632" y="5976987"/>
            <a:ext cx="9497899" cy="63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353" spc="609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From Reconnaissance to Full Domain Compromise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45362" y="4661561"/>
            <a:ext cx="6397172" cy="4061629"/>
            <a:chOff x="0" y="0"/>
            <a:chExt cx="991089" cy="6292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1089" cy="629253"/>
            </a:xfrm>
            <a:custGeom>
              <a:avLst/>
              <a:gdLst/>
              <a:ahLst/>
              <a:cxnLst/>
              <a:rect l="l" t="t" r="r" b="b"/>
              <a:pathLst>
                <a:path w="991089" h="629253">
                  <a:moveTo>
                    <a:pt x="0" y="0"/>
                  </a:moveTo>
                  <a:lnTo>
                    <a:pt x="991089" y="0"/>
                  </a:lnTo>
                  <a:lnTo>
                    <a:pt x="991089" y="629253"/>
                  </a:lnTo>
                  <a:lnTo>
                    <a:pt x="0" y="629253"/>
                  </a:lnTo>
                  <a:close/>
                </a:path>
              </a:pathLst>
            </a:custGeom>
            <a:blipFill>
              <a:blip r:embed="rId7"/>
              <a:stretch>
                <a:fillRect t="-2468" b="-2468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656616" y="9872467"/>
            <a:ext cx="1205367" cy="21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831129"/>
            <a:ext cx="8282089" cy="212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72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ENGAGEMENT OVERVIEW</a:t>
            </a:r>
          </a:p>
          <a:p>
            <a:pPr algn="l">
              <a:lnSpc>
                <a:spcPts val="8919"/>
              </a:lnSpc>
              <a:spcBef>
                <a:spcPct val="0"/>
              </a:spcBef>
            </a:pPr>
            <a:endParaRPr lang="en-US" sz="7215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468359" y="3071685"/>
            <a:ext cx="7435667" cy="542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Objective:</a:t>
            </a:r>
          </a:p>
          <a:p>
            <a:pPr marL="427480" lvl="1" indent="-213740" algn="l">
              <a:lnSpc>
                <a:spcPts val="2771"/>
              </a:lnSpc>
              <a:buFont typeface="Arial"/>
              <a:buChar char="•"/>
            </a:pPr>
            <a:r>
              <a:rPr lang="en-US" sz="1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Simulate a real-world cyberattack to identify vulnerabilities in Trimento Bank’s infrastructure and validate defensive capabilities.</a:t>
            </a:r>
          </a:p>
          <a:p>
            <a:pPr algn="l">
              <a:lnSpc>
                <a:spcPts val="3751"/>
              </a:lnSpc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Scope:</a:t>
            </a:r>
          </a:p>
          <a:p>
            <a:pPr marL="427480" lvl="1" indent="-213740" algn="l">
              <a:lnSpc>
                <a:spcPts val="2771"/>
              </a:lnSpc>
              <a:buFont typeface="Arial"/>
              <a:buChar char="•"/>
            </a:pPr>
            <a:r>
              <a:rPr lang="en-US" sz="1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Targets: Public-facing web servers, VPN gateways, internal AD domains (CORP, ROOT, BANK), SWIFT banking systems.</a:t>
            </a:r>
          </a:p>
          <a:p>
            <a:pPr marL="427480" lvl="1" indent="-213740" algn="l">
              <a:lnSpc>
                <a:spcPts val="2771"/>
              </a:lnSpc>
              <a:buFont typeface="Arial"/>
              <a:buChar char="•"/>
            </a:pPr>
            <a:r>
              <a:rPr lang="en-US" sz="1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Final Objective: Unauthorized $10M funds transfer via SWIFT portal.</a:t>
            </a:r>
          </a:p>
          <a:p>
            <a:pPr algn="l">
              <a:lnSpc>
                <a:spcPts val="3751"/>
              </a:lnSpc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Key Outcomes:</a:t>
            </a:r>
          </a:p>
          <a:p>
            <a:pPr marL="427480" lvl="1" indent="-213740" algn="l">
              <a:lnSpc>
                <a:spcPts val="2771"/>
              </a:lnSpc>
              <a:buFont typeface="Arial"/>
              <a:buChar char="•"/>
            </a:pPr>
            <a:r>
              <a:rPr lang="en-US" sz="1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Full compromise of corporate and financial domains</a:t>
            </a:r>
          </a:p>
          <a:p>
            <a:pPr marL="427480" lvl="1" indent="-213740" algn="l">
              <a:lnSpc>
                <a:spcPts val="2771"/>
              </a:lnSpc>
              <a:spcBef>
                <a:spcPct val="0"/>
              </a:spcBef>
              <a:buFont typeface="Arial"/>
              <a:buChar char="•"/>
            </a:pPr>
            <a:r>
              <a:rPr lang="en-US" sz="1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Critical gaps: Weak passwords, misconfigured services, lack of MFA, and role separation failures.</a:t>
            </a:r>
          </a:p>
          <a:p>
            <a:pPr algn="l">
              <a:lnSpc>
                <a:spcPts val="4591"/>
              </a:lnSpc>
              <a:spcBef>
                <a:spcPct val="0"/>
              </a:spcBef>
            </a:pPr>
            <a:endParaRPr lang="en-US" sz="1979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9779827" y="8178545"/>
            <a:ext cx="2468532" cy="313375"/>
            <a:chOff x="0" y="0"/>
            <a:chExt cx="650148" cy="825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693872" y="2020895"/>
            <a:ext cx="17168111" cy="6956447"/>
          </a:xfrm>
          <a:custGeom>
            <a:avLst/>
            <a:gdLst/>
            <a:ahLst/>
            <a:cxnLst/>
            <a:rect l="l" t="t" r="r" b="b"/>
            <a:pathLst>
              <a:path w="17168111" h="6956447">
                <a:moveTo>
                  <a:pt x="0" y="0"/>
                </a:moveTo>
                <a:lnTo>
                  <a:pt x="17168112" y="0"/>
                </a:lnTo>
                <a:lnTo>
                  <a:pt x="17168112" y="6956447"/>
                </a:lnTo>
                <a:lnTo>
                  <a:pt x="0" y="695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7150" b="-64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16656616" y="9872467"/>
            <a:ext cx="1205367" cy="21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4640" y="1541081"/>
            <a:ext cx="11022064" cy="990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2"/>
              </a:lnSpc>
            </a:pPr>
            <a:r>
              <a:rPr lang="en-US" sz="61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HIGH-LEVEL ATTACK FLOW DIAGRAM</a:t>
            </a:r>
          </a:p>
          <a:p>
            <a:pPr algn="l">
              <a:lnSpc>
                <a:spcPts val="1500"/>
              </a:lnSpc>
              <a:spcBef>
                <a:spcPct val="0"/>
              </a:spcBef>
            </a:pPr>
            <a:endParaRPr lang="en-US" sz="6115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D0DC4-0B03-E43F-1F78-EB3364EB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10FBC0-170F-4760-540C-63286EAF421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9138FCB-DDE8-ACC8-A83B-36E679A48351}"/>
              </a:ext>
            </a:extLst>
          </p:cNvPr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188EA45-3B92-865B-2B66-D99334392A26}"/>
              </a:ext>
            </a:extLst>
          </p:cNvPr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23ACDFE-956E-FD50-CB6F-34501F6BDE2B}"/>
                </a:ext>
              </a:extLst>
            </p:cNvPr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AD6C907-550C-9FF5-8E16-C72ACADFD83B}"/>
                </a:ext>
              </a:extLst>
            </p:cNvPr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5E47F20B-8994-3C9D-6785-90DA2E3EC6B2}"/>
              </a:ext>
            </a:extLst>
          </p:cNvPr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F0842DF-1F15-FC3F-CD67-016709ED325E}"/>
                </a:ext>
              </a:extLst>
            </p:cNvPr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BA51F1B-59AF-95E6-BA28-E1397745E8BF}"/>
                </a:ext>
              </a:extLst>
            </p:cNvPr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C6C98E08-FF66-7C9F-8D3B-3513125F0B4E}"/>
              </a:ext>
            </a:extLst>
          </p:cNvPr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52C9470-3FB9-A67C-443A-6F4ECFA28FCD}"/>
              </a:ext>
            </a:extLst>
          </p:cNvPr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CE9F649-1DFD-6540-6687-1173C2A0319C}"/>
              </a:ext>
            </a:extLst>
          </p:cNvPr>
          <p:cNvSpPr txBox="1"/>
          <p:nvPr/>
        </p:nvSpPr>
        <p:spPr>
          <a:xfrm>
            <a:off x="3974640" y="1541081"/>
            <a:ext cx="11022064" cy="115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2"/>
              </a:lnSpc>
            </a:pPr>
            <a:r>
              <a:rPr lang="en-US" sz="54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Network Diagram After Full Compromise</a:t>
            </a:r>
          </a:p>
          <a:p>
            <a:pPr algn="l">
              <a:lnSpc>
                <a:spcPts val="1500"/>
              </a:lnSpc>
              <a:spcBef>
                <a:spcPct val="0"/>
              </a:spcBef>
            </a:pPr>
            <a:endParaRPr lang="en-US" sz="540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FC9C47-B5E9-CD13-5540-CB2F2CCCF7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86" y="2484876"/>
            <a:ext cx="17030628" cy="705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6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64310" y="8475099"/>
            <a:ext cx="2468532" cy="313375"/>
            <a:chOff x="0" y="0"/>
            <a:chExt cx="650148" cy="825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27250" y="2182140"/>
            <a:ext cx="5213049" cy="6066093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t="-14372" b="-14372"/>
              </a:stretch>
            </a:blip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68359" y="2248815"/>
            <a:ext cx="6653456" cy="179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6"/>
              </a:lnSpc>
            </a:pPr>
            <a:r>
              <a:rPr lang="en-US" sz="50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PHASE-BY-PHASE KILL CHAIN SUMMARY</a:t>
            </a:r>
          </a:p>
          <a:p>
            <a:pPr algn="ctr">
              <a:lnSpc>
                <a:spcPts val="3620"/>
              </a:lnSpc>
              <a:spcBef>
                <a:spcPct val="0"/>
              </a:spcBef>
            </a:pPr>
            <a:endParaRPr lang="en-US" sz="5015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706139" y="3650119"/>
            <a:ext cx="6853407" cy="568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Reconnaissance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Techniques: OSINT, directory enumeration (e.g., /</a:t>
            </a:r>
            <a:r>
              <a:rPr lang="en-US" sz="24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vpn</a:t>
            </a: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exposed .</a:t>
            </a:r>
            <a:r>
              <a:rPr lang="en-US" sz="24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ovpn</a:t>
            </a: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file).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Impact: Enabled credential spraying and VPN access.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Initial Access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Techniques: Brute-forcing RDP/VPN (e.g., Password1@ for </a:t>
            </a:r>
            <a:r>
              <a:rPr lang="en-US" sz="24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laura.wood</a:t>
            </a: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).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Impact: User-level access to WRK1/WRK2.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648215" y="2256341"/>
            <a:ext cx="2070093" cy="2408835"/>
            <a:chOff x="0" y="0"/>
            <a:chExt cx="6985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25826" r="-8104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4093" y="8091546"/>
            <a:ext cx="2468532" cy="313375"/>
            <a:chOff x="0" y="0"/>
            <a:chExt cx="650148" cy="825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27250" y="2182140"/>
            <a:ext cx="5213049" cy="6066093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t="-14372" b="-14372"/>
              </a:stretch>
            </a:blip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656616" y="9872467"/>
            <a:ext cx="1205367" cy="19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68359" y="2248815"/>
            <a:ext cx="6653456" cy="179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6"/>
              </a:lnSpc>
            </a:pPr>
            <a:r>
              <a:rPr lang="en-US" sz="50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PHASE-BY-PHASE KILL CHAIN SUMMARY</a:t>
            </a:r>
          </a:p>
          <a:p>
            <a:pPr algn="ctr">
              <a:lnSpc>
                <a:spcPts val="3620"/>
              </a:lnSpc>
              <a:spcBef>
                <a:spcPct val="0"/>
              </a:spcBef>
            </a:pPr>
            <a:endParaRPr lang="en-US" sz="5015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648215" y="2256341"/>
            <a:ext cx="2070093" cy="2408835"/>
            <a:chOff x="0" y="0"/>
            <a:chExt cx="6985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25826" r="-8104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058333" y="4181135"/>
            <a:ext cx="8013201" cy="426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Privilege Escalation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Techniques: Sudo misconfiguration (</a:t>
            </a:r>
            <a:r>
              <a:rPr lang="en-US" sz="24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/bin/cp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to overwrite </a:t>
            </a:r>
            <a:r>
              <a:rPr lang="en-US" sz="24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/etc/passwd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), Kerberoasting (</a:t>
            </a:r>
            <a:r>
              <a:rPr lang="en-US" sz="24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svcScanning:Password1!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).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Impact: SYSTEM/root access.</a:t>
            </a:r>
          </a:p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Domain Compromise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Techniques: DCSync abuse (</a:t>
            </a:r>
            <a:r>
              <a:rPr lang="en-US" sz="2400" b="1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svcBackups</a:t>
            </a: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account), Golden Ticket forgery.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Impact: Enterprise Admin privileges.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92860" y="6782887"/>
            <a:ext cx="2468532" cy="313375"/>
            <a:chOff x="0" y="0"/>
            <a:chExt cx="650148" cy="825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27250" y="2182140"/>
            <a:ext cx="5213049" cy="6066093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t="-14372" b="-14372"/>
              </a:stretch>
            </a:blip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656616" y="9872467"/>
            <a:ext cx="1205367" cy="19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68359" y="2248815"/>
            <a:ext cx="6653456" cy="179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6"/>
              </a:lnSpc>
            </a:pPr>
            <a:r>
              <a:rPr lang="en-US" sz="50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PHASE-BY-PHASE KILL CHAIN SUMMARY</a:t>
            </a:r>
          </a:p>
          <a:p>
            <a:pPr algn="ctr">
              <a:lnSpc>
                <a:spcPts val="3620"/>
              </a:lnSpc>
              <a:spcBef>
                <a:spcPct val="0"/>
              </a:spcBef>
            </a:pPr>
            <a:endParaRPr lang="en-US" sz="5015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648215" y="2256341"/>
            <a:ext cx="2070093" cy="2408835"/>
            <a:chOff x="0" y="0"/>
            <a:chExt cx="6985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25826" r="-8104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468359" y="4847885"/>
            <a:ext cx="8013201" cy="2170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SWIFT Exploitation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Techniques: Browser-stored credentials, Weak separation of roles. (</a:t>
            </a:r>
            <a:r>
              <a:rPr lang="en-US" sz="24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g.watson</a:t>
            </a: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a.holt</a:t>
            </a: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).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Impact: $10M fraudulent transaction.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7671729" y="2004339"/>
            <a:ext cx="27740609" cy="1629149"/>
            <a:chOff x="0" y="0"/>
            <a:chExt cx="7306169" cy="4290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06169" cy="429076"/>
            </a:xfrm>
            <a:custGeom>
              <a:avLst/>
              <a:gdLst/>
              <a:ahLst/>
              <a:cxnLst/>
              <a:rect l="l" t="t" r="r" b="b"/>
              <a:pathLst>
                <a:path w="7306169" h="429076">
                  <a:moveTo>
                    <a:pt x="0" y="0"/>
                  </a:moveTo>
                  <a:lnTo>
                    <a:pt x="7306169" y="0"/>
                  </a:lnTo>
                  <a:lnTo>
                    <a:pt x="7306169" y="429076"/>
                  </a:lnTo>
                  <a:lnTo>
                    <a:pt x="0" y="429076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7306169" cy="390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495121" y="3948136"/>
          <a:ext cx="15116792" cy="5353051"/>
        </p:xfrm>
        <a:graphic>
          <a:graphicData uri="http://schemas.openxmlformats.org/drawingml/2006/table">
            <a:tbl>
              <a:tblPr/>
              <a:tblGrid>
                <a:gridCol w="3539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8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3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3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0753">
                <a:tc>
                  <a:txBody>
                    <a:bodyPr/>
                    <a:lstStyle/>
                    <a:p>
                      <a:pPr algn="l">
                        <a:lnSpc>
                          <a:spcPts val="3611"/>
                        </a:lnSpc>
                        <a:defRPr/>
                      </a:pPr>
                      <a:r>
                        <a:rPr lang="en-US" sz="2579" b="1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Finding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11"/>
                        </a:lnSpc>
                        <a:defRPr/>
                      </a:pPr>
                      <a:r>
                        <a:rPr lang="en-US" sz="2579" b="1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Risk Level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11"/>
                        </a:lnSpc>
                        <a:defRPr/>
                      </a:pPr>
                      <a:r>
                        <a:rPr lang="en-US" sz="2579" b="1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Proof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Remediation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MITRE ATT&amp;CK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1933"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Exposed OpenVPN Config File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Critical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Screenshot of .ovpn download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Restrict VPN access + MFA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T1190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933"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Sudo Misconfiguration (/bin/cp)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Critical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Terminal output showing root access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Audit sudoers; apply least privilege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T1548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933"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KRBTGT Hash Extraction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Critical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Mimikatz DCSync output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Rotate KRBTGT biannually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T1003.001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6499"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SWIFT Role Compromise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Critical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Screenshot of approved $10M transaction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Enforce MFA; separate roles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1"/>
                        </a:lnSpc>
                        <a:defRPr/>
                      </a:pPr>
                      <a:r>
                        <a:rPr lang="en-US" sz="1879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T1557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6656616" y="9872467"/>
            <a:ext cx="1205367" cy="19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16689" y="2109114"/>
            <a:ext cx="11454622" cy="2368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3"/>
              </a:lnSpc>
            </a:pPr>
            <a:r>
              <a:rPr lang="en-US" sz="86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KEY FINDINGS (RISK-BASED)</a:t>
            </a:r>
          </a:p>
          <a:p>
            <a:pPr algn="ctr">
              <a:lnSpc>
                <a:spcPts val="9203"/>
              </a:lnSpc>
              <a:spcBef>
                <a:spcPct val="0"/>
              </a:spcBef>
            </a:pPr>
            <a:endParaRPr lang="en-US" sz="8682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81722" y="4014497"/>
            <a:ext cx="3331953" cy="4061629"/>
            <a:chOff x="0" y="0"/>
            <a:chExt cx="516207" cy="6292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6207" cy="629253"/>
            </a:xfrm>
            <a:custGeom>
              <a:avLst/>
              <a:gdLst/>
              <a:ahLst/>
              <a:cxnLst/>
              <a:rect l="l" t="t" r="r" b="b"/>
              <a:pathLst>
                <a:path w="516207" h="629253">
                  <a:moveTo>
                    <a:pt x="0" y="0"/>
                  </a:moveTo>
                  <a:lnTo>
                    <a:pt x="516207" y="0"/>
                  </a:lnTo>
                  <a:lnTo>
                    <a:pt x="516207" y="629253"/>
                  </a:lnTo>
                  <a:lnTo>
                    <a:pt x="0" y="629253"/>
                  </a:lnTo>
                  <a:close/>
                </a:path>
              </a:pathLst>
            </a:custGeom>
            <a:blipFill>
              <a:blip r:embed="rId7"/>
              <a:stretch>
                <a:fillRect l="-41481" r="-4148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656616" y="9872467"/>
            <a:ext cx="1205367" cy="19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45362" y="2812079"/>
            <a:ext cx="7068313" cy="154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7"/>
              </a:lnSpc>
            </a:pPr>
            <a:r>
              <a:rPr lang="en-US" sz="57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TOOL STACK </a:t>
            </a:r>
          </a:p>
          <a:p>
            <a:pPr algn="l">
              <a:lnSpc>
                <a:spcPts val="6057"/>
              </a:lnSpc>
              <a:spcBef>
                <a:spcPct val="0"/>
              </a:spcBef>
            </a:pPr>
            <a:endParaRPr lang="en-US" sz="5715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994563" y="4014497"/>
            <a:ext cx="3331953" cy="4061629"/>
            <a:chOff x="0" y="0"/>
            <a:chExt cx="516207" cy="6292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6207" cy="629253"/>
            </a:xfrm>
            <a:custGeom>
              <a:avLst/>
              <a:gdLst/>
              <a:ahLst/>
              <a:cxnLst/>
              <a:rect l="l" t="t" r="r" b="b"/>
              <a:pathLst>
                <a:path w="516207" h="629253">
                  <a:moveTo>
                    <a:pt x="0" y="0"/>
                  </a:moveTo>
                  <a:lnTo>
                    <a:pt x="516207" y="0"/>
                  </a:lnTo>
                  <a:lnTo>
                    <a:pt x="516207" y="629253"/>
                  </a:lnTo>
                  <a:lnTo>
                    <a:pt x="0" y="629253"/>
                  </a:lnTo>
                  <a:close/>
                </a:path>
              </a:pathLst>
            </a:custGeom>
            <a:blipFill>
              <a:blip r:embed="rId8"/>
              <a:stretch>
                <a:fillRect l="-41481" r="-4148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46598" y="2819371"/>
            <a:ext cx="418645" cy="41864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746598" y="3388692"/>
            <a:ext cx="7065453" cy="44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Nmap, ffuf, OSINT frameworks.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84667" y="2863004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37148" y="2865668"/>
            <a:ext cx="3389562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RECON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746598" y="4435937"/>
            <a:ext cx="418645" cy="41864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746598" y="5005258"/>
            <a:ext cx="6855903" cy="44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Hydra, Impacket, Evil-WinRM.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84667" y="4479570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7148" y="4482234"/>
            <a:ext cx="3179050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EXPLOITATION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746598" y="6052503"/>
            <a:ext cx="418645" cy="41864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746598" y="6621824"/>
            <a:ext cx="6855903" cy="44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  <a:spcBef>
                <a:spcPct val="0"/>
              </a:spcBef>
            </a:pPr>
            <a:r>
              <a:rPr lang="en-US" sz="25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BloodHound, Mimikatz, Chisel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884667" y="6096136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3.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37148" y="6098800"/>
            <a:ext cx="4019844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POST-EXPLOITATION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737073" y="7318293"/>
            <a:ext cx="2468532" cy="313375"/>
            <a:chOff x="0" y="0"/>
            <a:chExt cx="650148" cy="8253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81722" y="4014497"/>
            <a:ext cx="3331953" cy="4061629"/>
            <a:chOff x="0" y="0"/>
            <a:chExt cx="516207" cy="6292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6207" cy="629253"/>
            </a:xfrm>
            <a:custGeom>
              <a:avLst/>
              <a:gdLst/>
              <a:ahLst/>
              <a:cxnLst/>
              <a:rect l="l" t="t" r="r" b="b"/>
              <a:pathLst>
                <a:path w="516207" h="629253">
                  <a:moveTo>
                    <a:pt x="0" y="0"/>
                  </a:moveTo>
                  <a:lnTo>
                    <a:pt x="516207" y="0"/>
                  </a:lnTo>
                  <a:lnTo>
                    <a:pt x="516207" y="629253"/>
                  </a:lnTo>
                  <a:lnTo>
                    <a:pt x="0" y="629253"/>
                  </a:lnTo>
                  <a:close/>
                </a:path>
              </a:pathLst>
            </a:custGeom>
            <a:blipFill>
              <a:blip r:embed="rId7"/>
              <a:stretch>
                <a:fillRect l="-41481" r="-4148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656616" y="9872467"/>
            <a:ext cx="1205367" cy="19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45362" y="2812079"/>
            <a:ext cx="7729786" cy="154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7"/>
              </a:lnSpc>
            </a:pPr>
            <a:r>
              <a:rPr lang="en-US" sz="57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TECHNIQUES (MITRE ATT&amp;CK)</a:t>
            </a:r>
          </a:p>
          <a:p>
            <a:pPr algn="l">
              <a:lnSpc>
                <a:spcPts val="6057"/>
              </a:lnSpc>
              <a:spcBef>
                <a:spcPct val="0"/>
              </a:spcBef>
            </a:pPr>
            <a:endParaRPr lang="en-US" sz="5715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994563" y="4014497"/>
            <a:ext cx="3331953" cy="4061629"/>
            <a:chOff x="0" y="0"/>
            <a:chExt cx="516207" cy="6292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6207" cy="629253"/>
            </a:xfrm>
            <a:custGeom>
              <a:avLst/>
              <a:gdLst/>
              <a:ahLst/>
              <a:cxnLst/>
              <a:rect l="l" t="t" r="r" b="b"/>
              <a:pathLst>
                <a:path w="516207" h="629253">
                  <a:moveTo>
                    <a:pt x="0" y="0"/>
                  </a:moveTo>
                  <a:lnTo>
                    <a:pt x="516207" y="0"/>
                  </a:lnTo>
                  <a:lnTo>
                    <a:pt x="516207" y="629253"/>
                  </a:lnTo>
                  <a:lnTo>
                    <a:pt x="0" y="629253"/>
                  </a:lnTo>
                  <a:close/>
                </a:path>
              </a:pathLst>
            </a:custGeom>
            <a:blipFill>
              <a:blip r:embed="rId8"/>
              <a:stretch>
                <a:fillRect l="-41481" r="-4148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46598" y="3789028"/>
            <a:ext cx="418645" cy="41864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884667" y="3832661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37148" y="3731878"/>
            <a:ext cx="5984618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T1110 – PASSWORD SPRAYING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746598" y="4617248"/>
            <a:ext cx="418645" cy="41864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884667" y="4660881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37148" y="4663545"/>
            <a:ext cx="4659557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T1558 – GOLDEN TICKET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746598" y="5338424"/>
            <a:ext cx="418645" cy="41864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884667" y="5382056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3.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37148" y="5384721"/>
            <a:ext cx="5784667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T1059 – COMMAND INJECTION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46598" y="6240574"/>
            <a:ext cx="418645" cy="41864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884667" y="6284207"/>
            <a:ext cx="209323" cy="28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4.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37148" y="6183424"/>
            <a:ext cx="5984618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T1098 – ACCOUNT MANIPULATION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746598" y="7068794"/>
            <a:ext cx="418645" cy="418645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884667" y="7112427"/>
            <a:ext cx="209323" cy="28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5.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337148" y="7115091"/>
            <a:ext cx="5402388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T1003 – CREDENTIAL DUMPING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9746598" y="7789970"/>
            <a:ext cx="418645" cy="418645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9884667" y="7833602"/>
            <a:ext cx="209323" cy="28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6.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337148" y="7836267"/>
            <a:ext cx="5784667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T1075 – PASS-THE-HASH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0397610" y="8368270"/>
            <a:ext cx="2468532" cy="313375"/>
            <a:chOff x="0" y="0"/>
            <a:chExt cx="650148" cy="8253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64570" y="9307909"/>
            <a:ext cx="2468532" cy="313375"/>
            <a:chOff x="0" y="0"/>
            <a:chExt cx="650148" cy="825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03181" y="3829153"/>
            <a:ext cx="418645" cy="41864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303181" y="5945561"/>
            <a:ext cx="418645" cy="41864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3321726" y="1993313"/>
            <a:ext cx="3542970" cy="7010374"/>
            <a:chOff x="0" y="0"/>
            <a:chExt cx="2620010" cy="5184140"/>
          </a:xfrm>
        </p:grpSpPr>
        <p:sp>
          <p:nvSpPr>
            <p:cNvPr id="24" name="Freeform 2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22324" r="-2232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656616" y="9872467"/>
            <a:ext cx="1205367" cy="19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03181" y="2414026"/>
            <a:ext cx="8393624" cy="230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DATA COLLECTED</a:t>
            </a:r>
          </a:p>
          <a:p>
            <a:pPr algn="l">
              <a:lnSpc>
                <a:spcPts val="8919"/>
              </a:lnSpc>
              <a:spcBef>
                <a:spcPct val="0"/>
              </a:spcBef>
            </a:pPr>
            <a:endParaRPr lang="en-US" sz="8414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303181" y="4398474"/>
            <a:ext cx="8353435" cy="94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15+ accounts (e.g., svcBackups:q9nzssaFtGHdqUV3Qv6G).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41250" y="3872786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93731" y="3875450"/>
            <a:ext cx="3389562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CREDENTIALS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03181" y="6514882"/>
            <a:ext cx="6855903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KRBTGT, Administrator NTLM.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41250" y="5989194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93731" y="5991858"/>
            <a:ext cx="3179050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HASHES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426769" y="5159789"/>
            <a:ext cx="2070093" cy="2408835"/>
            <a:chOff x="0" y="0"/>
            <a:chExt cx="6985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25826" r="-8104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40801" y="7797010"/>
            <a:ext cx="418645" cy="418645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8140801" y="8366331"/>
            <a:ext cx="6855903" cy="94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 trust relationships (CORP ↔ ROOT ↔ BANK).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78870" y="7840642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31351" y="7843307"/>
            <a:ext cx="3179050" cy="46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26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NETWORK MAPS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1996079" y="2182140"/>
            <a:ext cx="21757266" cy="7076160"/>
            <a:chOff x="0" y="0"/>
            <a:chExt cx="5730309" cy="1863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30309" cy="1863680"/>
            </a:xfrm>
            <a:custGeom>
              <a:avLst/>
              <a:gdLst/>
              <a:ahLst/>
              <a:cxnLst/>
              <a:rect l="l" t="t" r="r" b="b"/>
              <a:pathLst>
                <a:path w="5730309" h="1863680">
                  <a:moveTo>
                    <a:pt x="0" y="0"/>
                  </a:moveTo>
                  <a:lnTo>
                    <a:pt x="5730309" y="0"/>
                  </a:lnTo>
                  <a:lnTo>
                    <a:pt x="5730309" y="1863680"/>
                  </a:lnTo>
                  <a:lnTo>
                    <a:pt x="0" y="18636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5730309" cy="1825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031344" y="3155562"/>
            <a:ext cx="1227956" cy="1428894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2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656616" y="9872467"/>
            <a:ext cx="1316589" cy="21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45362" y="2793029"/>
            <a:ext cx="7298638" cy="18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0"/>
              </a:lnSpc>
            </a:pPr>
            <a:r>
              <a:rPr lang="en-US" sz="5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DEFENSE-IN-DEPTH ROADMAP</a:t>
            </a:r>
          </a:p>
          <a:p>
            <a:pPr algn="l">
              <a:lnSpc>
                <a:spcPts val="8919"/>
              </a:lnSpc>
              <a:spcBef>
                <a:spcPct val="0"/>
              </a:spcBef>
            </a:pPr>
            <a:endParaRPr lang="en-US" sz="500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45362" y="4393651"/>
            <a:ext cx="6853407" cy="3386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0196" lvl="1" indent="-300098" algn="l">
              <a:lnSpc>
                <a:spcPts val="3891"/>
              </a:lnSpc>
              <a:buAutoNum type="arabicPeriod"/>
            </a:pPr>
            <a:r>
              <a:rPr lang="en-US" sz="27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Immediate (0–30d): Patch VPN, rotate KRBTGT, disable SMBv1.</a:t>
            </a:r>
          </a:p>
          <a:p>
            <a:pPr marL="600196" lvl="1" indent="-300098" algn="l">
              <a:lnSpc>
                <a:spcPts val="3891"/>
              </a:lnSpc>
              <a:buAutoNum type="arabicPeriod"/>
            </a:pPr>
            <a:r>
              <a:rPr lang="en-US" sz="27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Short-Term (30–90d): Deploy EDR/XDR; enforce MFA globally.</a:t>
            </a:r>
          </a:p>
          <a:p>
            <a:pPr marL="600196" lvl="1" indent="-300098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Long-Term (90d+): Redesign network with micro-segmentation.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879486" y="2339288"/>
            <a:ext cx="5442280" cy="6332835"/>
            <a:chOff x="0" y="0"/>
            <a:chExt cx="6985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2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1726521" y="3340253"/>
            <a:ext cx="3748209" cy="4114800"/>
          </a:xfrm>
          <a:custGeom>
            <a:avLst/>
            <a:gdLst/>
            <a:ahLst/>
            <a:cxnLst/>
            <a:rect l="l" t="t" r="r" b="b"/>
            <a:pathLst>
              <a:path w="3748209" h="4114800">
                <a:moveTo>
                  <a:pt x="0" y="0"/>
                </a:moveTo>
                <a:lnTo>
                  <a:pt x="3748209" y="0"/>
                </a:lnTo>
                <a:lnTo>
                  <a:pt x="37482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4" name="Group 24"/>
          <p:cNvGrpSpPr/>
          <p:nvPr/>
        </p:nvGrpSpPr>
        <p:grpSpPr>
          <a:xfrm>
            <a:off x="2192753" y="7467240"/>
            <a:ext cx="2468532" cy="313375"/>
            <a:chOff x="0" y="0"/>
            <a:chExt cx="650148" cy="825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4317818" y="2004339"/>
            <a:ext cx="27740609" cy="1629149"/>
            <a:chOff x="0" y="0"/>
            <a:chExt cx="7306169" cy="4290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06169" cy="429076"/>
            </a:xfrm>
            <a:custGeom>
              <a:avLst/>
              <a:gdLst/>
              <a:ahLst/>
              <a:cxnLst/>
              <a:rect l="l" t="t" r="r" b="b"/>
              <a:pathLst>
                <a:path w="7306169" h="429076">
                  <a:moveTo>
                    <a:pt x="0" y="0"/>
                  </a:moveTo>
                  <a:lnTo>
                    <a:pt x="7306169" y="0"/>
                  </a:lnTo>
                  <a:lnTo>
                    <a:pt x="7306169" y="429076"/>
                  </a:lnTo>
                  <a:lnTo>
                    <a:pt x="0" y="429076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7306169" cy="390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656616" y="9872467"/>
            <a:ext cx="1205367" cy="21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04806" y="1931527"/>
            <a:ext cx="9143640" cy="280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29"/>
              </a:lnSpc>
            </a:pPr>
            <a:r>
              <a:rPr lang="en-US" sz="69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STRATEGIC RECOMMENDATIONS</a:t>
            </a:r>
          </a:p>
          <a:p>
            <a:pPr algn="ctr">
              <a:lnSpc>
                <a:spcPts val="7329"/>
              </a:lnSpc>
              <a:spcBef>
                <a:spcPct val="0"/>
              </a:spcBef>
            </a:pPr>
            <a:endParaRPr lang="en-US" sz="6915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495121" y="3724396"/>
            <a:ext cx="2940789" cy="3422009"/>
            <a:chOff x="0" y="0"/>
            <a:chExt cx="6985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37327" r="-37327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34412" y="4740527"/>
            <a:ext cx="2940789" cy="3422009"/>
            <a:chOff x="0" y="0"/>
            <a:chExt cx="6985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53204" r="-53204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736347" y="4840632"/>
            <a:ext cx="8920269" cy="3322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456" lvl="1" indent="-290728" algn="l">
              <a:lnSpc>
                <a:spcPts val="3770"/>
              </a:lnSpc>
              <a:buAutoNum type="arabicPeriod"/>
            </a:pPr>
            <a:r>
              <a:rPr lang="en-US" sz="269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Segment Critical Systems: Isolate SWIFT from general AD.</a:t>
            </a:r>
          </a:p>
          <a:p>
            <a:pPr marL="581456" lvl="1" indent="-290728" algn="l">
              <a:lnSpc>
                <a:spcPts val="3770"/>
              </a:lnSpc>
              <a:buAutoNum type="arabicPeriod"/>
            </a:pPr>
            <a:r>
              <a:rPr lang="en-US" sz="269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Adopt Zero Trust: Enforce MFA for VPN/RDP and privileged accounts.</a:t>
            </a:r>
          </a:p>
          <a:p>
            <a:pPr marL="581456" lvl="1" indent="-290728" algn="l">
              <a:lnSpc>
                <a:spcPts val="3770"/>
              </a:lnSpc>
              <a:buAutoNum type="arabicPeriod"/>
            </a:pPr>
            <a:r>
              <a:rPr lang="en-US" sz="269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Conduct Quarterly Purple Teaming: Simulate advanced threats.</a:t>
            </a:r>
          </a:p>
          <a:p>
            <a:pPr algn="l">
              <a:lnSpc>
                <a:spcPts val="3770"/>
              </a:lnSpc>
              <a:spcBef>
                <a:spcPct val="0"/>
              </a:spcBef>
            </a:pPr>
            <a:endParaRPr lang="en-US" sz="2693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8315325" y="7736954"/>
            <a:ext cx="2468532" cy="313375"/>
            <a:chOff x="0" y="0"/>
            <a:chExt cx="650148" cy="825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9827" y="6718758"/>
            <a:ext cx="2468532" cy="313375"/>
            <a:chOff x="0" y="0"/>
            <a:chExt cx="650148" cy="825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656616" y="9872467"/>
            <a:ext cx="1205367" cy="21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2344" y="2485493"/>
            <a:ext cx="8393624" cy="1733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7"/>
              </a:lnSpc>
            </a:pPr>
            <a:r>
              <a:rPr lang="en-US" sz="4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TACTICAL RECOMMENDATIONS </a:t>
            </a:r>
          </a:p>
          <a:p>
            <a:pPr algn="ctr">
              <a:lnSpc>
                <a:spcPts val="4557"/>
              </a:lnSpc>
            </a:pPr>
            <a:r>
              <a:rPr lang="en-US" sz="4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(BLUE TEAM)</a:t>
            </a:r>
          </a:p>
          <a:p>
            <a:pPr algn="l">
              <a:lnSpc>
                <a:spcPts val="4557"/>
              </a:lnSpc>
              <a:spcBef>
                <a:spcPct val="0"/>
              </a:spcBef>
            </a:pPr>
            <a:endParaRPr lang="en-US" sz="42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495121" y="3741085"/>
            <a:ext cx="4067165" cy="4732701"/>
            <a:chOff x="0" y="0"/>
            <a:chExt cx="6985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37327" r="-37327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144000" y="3683935"/>
            <a:ext cx="7255798" cy="319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Monitor DCSync Activity: Alert on Get-ADReplAccount usage.</a:t>
            </a:r>
          </a:p>
          <a:p>
            <a:pPr marL="561339" lvl="1" indent="-280669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Harden Service Accounts: Enforce LAPS; remove unnecessary SPNs.</a:t>
            </a:r>
          </a:p>
          <a:p>
            <a:pPr marL="561339" lvl="1" indent="-280669" algn="l">
              <a:lnSpc>
                <a:spcPts val="3639"/>
              </a:lnSpc>
              <a:buAutoNum type="arabicPeriod"/>
            </a:pPr>
            <a:r>
              <a:rPr lang="en-US" sz="25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Audit Sudo Rules: Restrict non-admin privileges.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5691933" y="4490791"/>
            <a:ext cx="2778608" cy="3233290"/>
            <a:chOff x="0" y="0"/>
            <a:chExt cx="6985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8"/>
              <a:stretch>
                <a:fillRect l="-53204" r="-53204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731654" y="0"/>
                </a:moveTo>
                <a:lnTo>
                  <a:pt x="0" y="0"/>
                </a:lnTo>
                <a:lnTo>
                  <a:pt x="0" y="345873"/>
                </a:lnTo>
                <a:lnTo>
                  <a:pt x="731654" y="345873"/>
                </a:lnTo>
                <a:lnTo>
                  <a:pt x="7316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16656616" y="9872467"/>
            <a:ext cx="1205367" cy="19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60116" y="3142380"/>
            <a:ext cx="9967769" cy="200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29"/>
              </a:lnSpc>
              <a:spcBef>
                <a:spcPct val="0"/>
              </a:spcBef>
            </a:pPr>
            <a:r>
              <a:rPr lang="en-US" sz="14461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73375" y="4800075"/>
            <a:ext cx="9967769" cy="3924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29"/>
              </a:lnSpc>
              <a:spcBef>
                <a:spcPct val="0"/>
              </a:spcBef>
            </a:pPr>
            <a:r>
              <a:rPr lang="en-US" sz="12100" dirty="0">
                <a:solidFill>
                  <a:srgbClr val="FFFFFF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Anton"/>
                <a:ea typeface="Anton"/>
                <a:cs typeface="Anton"/>
                <a:sym typeface="Anton"/>
              </a:rPr>
              <a:t>RED-RECON FORCES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963401" y="4967579"/>
            <a:ext cx="457200" cy="785521"/>
          </a:xfrm>
          <a:custGeom>
            <a:avLst/>
            <a:gdLst/>
            <a:ahLst/>
            <a:cxnLst/>
            <a:rect l="l" t="t" r="r" b="b"/>
            <a:pathLst>
              <a:path w="551787" h="965929">
                <a:moveTo>
                  <a:pt x="0" y="0"/>
                </a:moveTo>
                <a:lnTo>
                  <a:pt x="551787" y="0"/>
                </a:lnTo>
                <a:lnTo>
                  <a:pt x="551787" y="965928"/>
                </a:lnTo>
                <a:lnTo>
                  <a:pt x="0" y="9659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580</Words>
  <Application>Microsoft Office PowerPoint</Application>
  <PresentationFormat>Custom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TT Lakes Neue</vt:lpstr>
      <vt:lpstr>Arial</vt:lpstr>
      <vt:lpstr>Raleway Medium</vt:lpstr>
      <vt:lpstr>Anton</vt:lpstr>
      <vt:lpstr>Calibri</vt:lpstr>
      <vt:lpstr>TT Lakes Neue Bold</vt:lpstr>
      <vt:lpstr>Raleway Bold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Black Tech Modern Cyber Security Presentation</dc:title>
  <cp:lastModifiedBy>mohammed ali</cp:lastModifiedBy>
  <cp:revision>8</cp:revision>
  <dcterms:created xsi:type="dcterms:W3CDTF">2006-08-16T00:00:00Z</dcterms:created>
  <dcterms:modified xsi:type="dcterms:W3CDTF">2025-04-15T21:35:19Z</dcterms:modified>
  <dc:identifier>DAGknQhscSs</dc:identifier>
</cp:coreProperties>
</file>